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640080"/>
            <a:ext cx="10177272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0080"/>
            <a:ext cx="1017727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960120"/>
            <a:ext cx="10177272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  <a:latin typeface="Segoe UI"/>
              </a:rPr>
              <a:t>SUMMARY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7727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Segoe UI"/>
              </a:rPr>
              <a:t>AI-Powered PDF Summarization &amp; Document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017727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Minor Project — Seminar 3  (Execution, Testing &amp; Modification)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606040"/>
            <a:ext cx="889711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2834640"/>
            <a:ext cx="19050" cy="3108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6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1. Kandoriya Yogesh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1188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Enrollment No: 246400307085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2. Khambhaliya Harshid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3484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Enrollment No: 246400307387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Group: Group No. 12 (Semester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Prof. S. V. Modi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Department &amp; 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4389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Department of Computer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36592"/>
            <a:ext cx="4389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R. C. Technical Institute, Ahmedabad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200"/>
            <a:ext cx="4389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PROGRESS SINCE SEMINAR-2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Work completed, milestones achieved, and current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WORK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57400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PyMuPDF PDF ingestion and header/footer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32888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MiniLM embeddings (384-dimensional vectors)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008376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FAISS semantic retrieval (cosine similarity)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83864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MAP-REDUCE-EXPAND summarization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959352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Gemini API + local FLAN-T5 offline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5696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5696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057400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PDF extraction and chunking (100% complete)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532888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Hybrid semantic + lexical retrieval (100% complete)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008376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Grounded Q&amp;A with citations (100% complete)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483864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6-tab UI workspace on Streamlit (100% complete)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959352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Automated testing suite (35/35 passing tests)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CURRENT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057400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Fully functional local Streamlit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2532888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Multi-PDF support (separate or combined)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008376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Dual AI engine (Local FLAN-T5 / Cloud Gemini)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483864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Page-aware citations with verified excerpts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959352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Ready for live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MODULE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Completed system modules and architectural dataflow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8191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1. PDF INGESTION &amp;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4767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PyMuPDF → text cleaning → chunking (400 words, 60-word overlap). Eliminates running headers, footers &amp; OCR noise.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2. FAISS SEMANTIC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MiniLM → 384-dim dense embeddings → FAISS IndexFlatIP. Executes fast inner-product cosine similarity search.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7355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3. SUMMARIZATION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3931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MAP → REDUCE → EXPAND pipeline. Enforces proportional summary length (10 input pages ≈ 500 summary words).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0896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10896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7355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4. VERIFICATION &amp; CITATIONS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3931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Grounded answer + authentic page citations + out-of-document refusal handling ('Not found in document').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983480"/>
            <a:ext cx="10725912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983480"/>
            <a:ext cx="1072591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103601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System Architecture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486400"/>
            <a:ext cx="1188720" cy="594360"/>
          </a:xfrm>
          <a:prstGeom prst="rect">
            <a:avLst/>
          </a:prstGeom>
          <a:solidFill>
            <a:srgbClr val="0F172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PDF 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62356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5486400"/>
            <a:ext cx="1188720" cy="5943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Text Cleaning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62356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6200" y="5486400"/>
            <a:ext cx="1188720" cy="594360"/>
          </a:xfrm>
          <a:prstGeom prst="rect">
            <a:avLst/>
          </a:prstGeom>
          <a:solidFill>
            <a:srgbClr val="2563EB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FAISS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62356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5486400"/>
            <a:ext cx="1188720" cy="5943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Retrieved Chunks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62356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5486400"/>
            <a:ext cx="1188720" cy="594360"/>
          </a:xfrm>
          <a:prstGeom prst="rect">
            <a:avLst/>
          </a:prstGeom>
          <a:solidFill>
            <a:srgbClr val="0F172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FLAN-T5 / Gemini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62356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5486400"/>
            <a:ext cx="1188720" cy="594360"/>
          </a:xfrm>
          <a:prstGeom prst="rect">
            <a:avLst/>
          </a:prstGeom>
          <a:solidFill>
            <a:srgbClr val="2563EB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Grounded Result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62356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21240" y="5486400"/>
            <a:ext cx="1188720" cy="5943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559612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Page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DEVELOPMENT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Software implementation and real project screenshots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43891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43891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SOFTWARE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965960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20824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Python 3.11+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58568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Core runtime and data structures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578608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2,800+ lines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71216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Clean, modular script in app.py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191256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46120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PyMuPDF (fitz)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83864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High-speed PDF text &amp; metadata extraction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803904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5876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MiniLM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96512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all-MiniLM-L6-v2 (384-dimensional dense vectors)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416552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71416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FAISS IndexFlatIP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In-memory cosine similarity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029200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84064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FLAN-T5 + 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21808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Dual model: Local Seq2Seq + Cloud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641848"/>
            <a:ext cx="4114800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96712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• Streamlit + 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934456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Reactive UI with dark sidebar &amp; light tabs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1417320"/>
            <a:ext cx="2971800" cy="201168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1417320"/>
            <a:ext cx="2971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1453896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PDF Upload &amp;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214884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2423160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3465576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Dashboard &amp; Multi-PDF Uploader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1417320"/>
            <a:ext cx="2971800" cy="201168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58200" y="1417320"/>
            <a:ext cx="2971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1453896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Generated 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14884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2423160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465576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Summary Tab with Page Citations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3931920"/>
            <a:ext cx="2971800" cy="201168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03520" y="3931920"/>
            <a:ext cx="2971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3968496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Grounded Ask 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466344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937760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5980176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Ask PDF Tab with Slash Commands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3931920"/>
            <a:ext cx="2971800" cy="201168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58200" y="3931920"/>
            <a:ext cx="2971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3968496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Keywords &amp; Sources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66344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4937760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5980176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Extracted Chips &amp; Evidence Quotes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TESTING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Quality assurance strategy, test suites, tools, and verification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1. UNIT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Text Cleaning: Rejection of repetitive headers/footers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Text Chunking: 400-word blocks with 60-word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Keyword Extraction: TF-IDF + Capitalization entity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Multi-Format Export: Byte generation for PDF, TXT, 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954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Document Management: File upload, size caps, and remove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2. ACCURACY &amp; 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9280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Q&amp;A Factual Consistency: Retrieval context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219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Number Auditing: Verified exact figures (e.g., 94.5%)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5117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Date Verification: Verified historical years (e.g., 2017)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8036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Slash Commands: Verified /explain, /find, /define, /cite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20954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Refusal Handling: 'Not found in document' for absent facts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3. END-TO-END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Real Engineering Notes: Lecture PDFs tested end-to-end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4515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5-Page Scaling: 250 words target verified (285 w. actual)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7433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10-Page Scaling: 500 words target verified (520 w. actual)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20-Page Scaling: 1000 words target verified (987 w. actual)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3270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50-Page Scaling: 2500 words target verified (2978 w. actual)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4. VERIFICATION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31596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Source Chunk Auditing: Vector distance ranking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4515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Page Citation Verification: Sentence-to-page matching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7433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Tokenizer Budget: Prevents token cutoff and truncation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30352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Dual Model Switching: Seamless Local FLAN-T5 / Gemini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63270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Verified Counts: 23 Helper Tests + 12 Accuracy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TEST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Verified experimental results, validation table, and output screens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12064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12064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TEST RESULTS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965960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20824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Core Helpers (test_helpers.py)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20824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23 / 23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20824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100%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395728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059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Accuracy Suite (test_accuracy.py)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50592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12 / 12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50592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100%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825496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88036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Summary Length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8036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4 / 4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88036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255264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310128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Negative Refusal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3101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Refusal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310128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685032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739896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Date &amp; Number Preservation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739896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100%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739896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114800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169664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Multi-Page Retrieval &amp; /cite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169664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3 Pages linked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169664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544568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59943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Export (PDF, TXT, Markdown)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599432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Valid Byte 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599432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974336"/>
            <a:ext cx="484632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Dual Model Switching (Local/Gemini)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02920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Segoe UI"/>
              </a:rPr>
              <a:t>Seamless 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5440680"/>
            <a:ext cx="4846320" cy="621792"/>
          </a:xfrm>
          <a:prstGeom prst="rect">
            <a:avLst/>
          </a:prstGeom>
          <a:solidFill>
            <a:srgbClr val="EEF2F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486400"/>
            <a:ext cx="466344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Real PDF Testing: CHASM Notes (23p → 1,363w, 41 citations) &amp; Cryptography Notes (21p → 1,260w, 35 citations) verified with zero errors.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1417320"/>
            <a:ext cx="5394960" cy="214884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1417320"/>
            <a:ext cx="539496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1453896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Generated Summary 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221742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49174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602736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Executive Overview, structured points, and page badges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977639"/>
            <a:ext cx="5394960" cy="214884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3977639"/>
            <a:ext cx="539496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4014215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Grounded Ask PDF with Citation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777739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052059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6163055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Answer with expandable Page 3 quote &amp; highlighted 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MODIFICATIONS &amp;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Problem identification, modifications carried out, and technical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5912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08760"/>
            <a:ext cx="3108960" cy="59436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Segoe UI"/>
              </a:rPr>
              <a:t>⚠️ Generic / Ungrounded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7335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3383280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81912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🔧 Lexical verification + hybrid retrieval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67335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108960" cy="59436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81912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47857"/>
                </a:solidFill>
                <a:latin typeface="Segoe UI"/>
              </a:rPr>
              <a:t>✅ Factual, faithful responses strictly matching document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295144"/>
            <a:ext cx="10725912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386584"/>
            <a:ext cx="3108960" cy="59436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459736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Segoe UI"/>
              </a:rPr>
              <a:t>⚠️ Fixed Summary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55117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386584"/>
            <a:ext cx="3383280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459736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🔧 Proportional scaling formula (10 input pages ≈ 500 words)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5117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386584"/>
            <a:ext cx="3108960" cy="59436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459736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47857"/>
                </a:solidFill>
                <a:latin typeface="Segoe UI"/>
              </a:rPr>
              <a:t>✅ Summary length dynamically adapts to any PDF document size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172968"/>
            <a:ext cx="10725912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264408"/>
            <a:ext cx="3108960" cy="59436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3756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Segoe UI"/>
              </a:rPr>
              <a:t>⚠️ Absence of Page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4290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264408"/>
            <a:ext cx="3383280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337560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🔧 Point-to-source citation matcher with excerpt quotes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4290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264408"/>
            <a:ext cx="3108960" cy="59436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33756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47857"/>
                </a:solidFill>
                <a:latin typeface="Segoe UI"/>
              </a:rPr>
              <a:t>✅ Page-aware citations allowing users to verify authentic 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050792"/>
            <a:ext cx="10725912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4142232"/>
            <a:ext cx="3108960" cy="59436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15384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Segoe UI"/>
              </a:rPr>
              <a:t>⚠️ Low Contrast Workspace 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4306824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142232"/>
            <a:ext cx="3383280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215384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🔧 Redesigned UI with elevated cards &amp; #0F172A navy 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306824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142232"/>
            <a:ext cx="3108960" cy="59436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215384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47857"/>
                </a:solidFill>
                <a:latin typeface="Segoe UI"/>
              </a:rPr>
              <a:t>✅ High visual contrast; zero white-on-white text blending issues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928616"/>
            <a:ext cx="10725912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5020056"/>
            <a:ext cx="3108960" cy="59436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093208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Segoe UI"/>
              </a:rPr>
              <a:t>⚠️ Need Local + Cloud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518464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020056"/>
            <a:ext cx="3383280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5093208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🔧 Dual AI engine: local FLAN-T5 + Google Gemini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18464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Segoe UI"/>
              </a:rPr>
              <a:t>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5020056"/>
            <a:ext cx="3108960" cy="59436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5093208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47857"/>
                </a:solidFill>
                <a:latin typeface="Segoe UI"/>
              </a:rPr>
              <a:t>✅ Offline privacy on CPU + cloud AI power when online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897880"/>
            <a:ext cx="1072591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961888"/>
            <a:ext cx="1036015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Engineering Optimizations: MAP-REDUCE-EXPAND chunking, TF-IDF + MMR keywords, in-memory FAISS caching, CPU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CURRENT WORKING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Live application demonstration, features completed, and prototype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📄 PDF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7335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Proportional length; Bullets, Findings, FAQ, Structured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371600"/>
            <a:ext cx="512064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17320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💬 ASK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67335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Grounded Q&amp;A with slash commands (/explain, /cite)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148840"/>
            <a:ext cx="8897112" cy="2743200"/>
          </a:xfrm>
          <a:prstGeom prst="rect">
            <a:avLst/>
          </a:prstGeom>
          <a:solidFill>
            <a:srgbClr val="F0F7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0" y="2148840"/>
            <a:ext cx="8897112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185416"/>
            <a:ext cx="8714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Segoe UI"/>
              </a:rPr>
              <a:t>📷 Summary AI Live Working Prototype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246120"/>
            <a:ext cx="871423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 ACTUAL PROJECT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20440"/>
            <a:ext cx="8714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Drop actual PNG image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928616"/>
            <a:ext cx="88971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Segoe UI"/>
              </a:rPr>
              <a:t>Full Streamlit web application running at http://localhost:8501 showing PDF loaded and 6-tab workspace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12064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🏷️ KEYWORDS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3095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Important domain entities via TF-IDF &amp; MMR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792" y="5029200"/>
            <a:ext cx="512064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074920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📖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33095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Page-aware citations with highlighted original quotes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925312"/>
            <a:ext cx="1036015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Live Demo Flow: Upload PDF ➔ Generate Summary ➔ Check Keywords ➔ Ask Question ➔ Verify Source ➔ Export  |  Status: Working locally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REMAINING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Roadmap: pending modules, final testing, documentation, and evaluation preparation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1. PENDING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05740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3055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OCR for scanned PDFs (Tesseract OCR)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06324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3639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Advanced table parsing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06908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4223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Cross-document visual diff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07492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Audio summary generation (TTS)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7288" y="141732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47288" y="1417320"/>
            <a:ext cx="25603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148132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2. FINAL 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7016" y="205740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213055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300+ page textbook stress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57016" y="306324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13639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Cross-browser testing (Chrome, Edge)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57016" y="406908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414223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Student usability evaluation study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57016" y="507492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514807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Latency benchmarking (FLAN-T5 vs Gemini)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41732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141732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148132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3. DOCUMENTATION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2784" y="205740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213055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Final university project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306324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13639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UML and Data Flow (DFD) diagrams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4" y="406908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14223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API &amp; module reference manual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507492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514807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User installation &amp; operation guide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78824" y="141732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78824" y="1417320"/>
            <a:ext cx="25603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0264" y="148132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4. FINAL EVALUATION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2" y="205740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1704" y="213055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Cloud deployment (Streamlit Cloud)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8552" y="306324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1704" y="313639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Code refactoring &amp; dependency cleanup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88552" y="406908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1704" y="414223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Final presentation &amp; demonstration video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88552" y="5074920"/>
            <a:ext cx="2340864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61704" y="5148072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• Project viva defense preparation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94360"/>
            <a:ext cx="1036015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94360"/>
            <a:ext cx="103601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868680"/>
            <a:ext cx="1036015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SUMMARY AI — SEMINAR 3 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417320"/>
            <a:ext cx="4754880" cy="29260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417320"/>
            <a:ext cx="47548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463040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5 Major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✓ Full PDF Ingestion ➔ FAISS Retrieval ➔ AI Summary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8599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✓ Dual AI Engine (Offline FLAN-T5 + Cloud Gemini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9747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✓ Grounded Q&amp;A + page citations with refusal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5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✓ Modern 6-tab document workspace with dark sidebar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2043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✓ 35 automated tests completed with verified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4754880" cy="29260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47548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LIVE DEMO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▶  1. Upload PDF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599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▶  2. Generate Summary (Proportional Scaling)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9747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▶  3. Check Keywords &amp; Key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0895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▶  4. Ask PDF (Natural Q&amp;A + Slash Commands)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2043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▶  5. Verify Sources (Page Excerpts)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3191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▶  6. Export (PDF, TXT, Markdown)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462272"/>
            <a:ext cx="9784080" cy="566928"/>
          </a:xfrm>
          <a:prstGeom prst="rect">
            <a:avLst/>
          </a:prstGeom>
          <a:solidFill>
            <a:srgbClr val="EEF2F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53712"/>
            <a:ext cx="9418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50" b="1">
                <a:solidFill>
                  <a:srgbClr val="0F172A"/>
                </a:solidFill>
                <a:latin typeface="Segoe UI"/>
              </a:rPr>
              <a:t>“Summary AI transforms static PDF reading into an active, citation-backed, intelligent workspace.”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Segoe UI"/>
              </a:rPr>
              <a:t>Thank You!   Any Questions?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3601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Students: Kandoriya Yogesh (246400307085)  |  Khambhaliya Harshid (246400307387)      Guide: Prof. S. V. Modi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103601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Department of Computer Engineering  |  R. C. Technical Institute, Ahmedabad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