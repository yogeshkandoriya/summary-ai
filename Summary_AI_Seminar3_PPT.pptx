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1800"/>
            <a:ext cx="1218895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640080"/>
            <a:ext cx="10177272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640080"/>
            <a:ext cx="10177272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960120"/>
            <a:ext cx="10177272" cy="7772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4400" b="1">
                <a:solidFill>
                  <a:srgbClr val="0F172A"/>
                </a:solidFill>
                <a:latin typeface="Segoe UI"/>
              </a:rPr>
              <a:t>SUMMARY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10177272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Segoe UI"/>
              </a:rPr>
              <a:t>AI-Powered PDF Summarization &amp; Document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10177272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Segoe UI"/>
              </a:rPr>
              <a:t>Minor Project — Seminar 3  (Execution, Testing &amp; Modification)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606040"/>
            <a:ext cx="8897112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2834640"/>
            <a:ext cx="19050" cy="31089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2880360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Segoe UI"/>
              </a:rPr>
              <a:t>Student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291840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Segoe UI"/>
              </a:rPr>
              <a:t>1. Kandoriya Yogesh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611880"/>
            <a:ext cx="38404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Enrollment No: 246400307085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114800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Segoe UI"/>
              </a:rPr>
              <a:t>2. Khambhaliya Harshid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34840"/>
            <a:ext cx="38404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Enrollment No: 246400307387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937760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Group: Group No. 12 (Semester 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80360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Segoe UI"/>
              </a:rPr>
              <a:t>Guide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91840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"/>
              </a:rPr>
              <a:t>Prof. S. V. Modi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77639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Segoe UI"/>
              </a:rPr>
              <a:t>Department &amp; Institute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89120"/>
            <a:ext cx="438912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Segoe UI"/>
              </a:rPr>
              <a:t>Department of Computer 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736592"/>
            <a:ext cx="438912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R. C. Technical Institute, Ahmedabad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029200"/>
            <a:ext cx="438912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Segoe UI"/>
              </a:rPr>
              <a:t>Academic Year: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56032"/>
            <a:ext cx="8229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8229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"/>
            <a:ext cx="96012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PROGRESS SINCE SEMINAR-2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621792"/>
            <a:ext cx="9601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Work completed, milestones achieved, and current 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3328416" cy="47548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3328416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36192"/>
            <a:ext cx="30540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Segoe UI"/>
              </a:rPr>
              <a:t>Work Completed After Seminar-2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05740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Implemented PyMuPDF text ingestion with header &amp; footer filtering.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56032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Integrated Sentence-Transformers (all-MiniLM-L6-v2) for 384-dim embeddings.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06324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Built FAISS vector index for sub-second semantic search over chunks.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56616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Developed multi-stage proportional summarizer (MAP -&gt; REDUCE -&gt; EXPAND).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06908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Added Google Gemini API cloud integration with offline FLAN-T5 fallback.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25696" y="1463040"/>
            <a:ext cx="3328416" cy="47548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25696" y="1463040"/>
            <a:ext cx="3328416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2856" y="1536192"/>
            <a:ext cx="30540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Segoe UI"/>
              </a:rPr>
              <a:t>Milestones Achieved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205740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Milestone 1: PDF extraction &amp; noise-free text chunking (100% complete).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56032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Milestone 2: FAISS hybrid semantic + keyword retrieval (100% complete).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306324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Milestone 3: Grounded Q&amp;A with refusal checks &amp; page citations (100% complete).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56616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Milestone 4: Notion-style 6-tab UI workspace with dark sidebar (100% complete).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06908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Milestone 5: Automated test suite validation with 35 passing tests (100% complete).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9872" y="1463040"/>
            <a:ext cx="3328416" cy="47548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19872" y="1463040"/>
            <a:ext cx="3328416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2" y="1536192"/>
            <a:ext cx="30540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Segoe UI"/>
              </a:rPr>
              <a:t>Implementation 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4" y="205740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Core System: Fully functional, running locally on Streamlit.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256032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Accuracy Engine: Verified factual preservation on engineering notes.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306324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Dual AI Engine: User can toggle between Local FLAN-T5 and Gemini API.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4" y="356616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Multi-PDF Support: Individual or combined cross-document analysis.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406908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Readiness: Completely prepared for Seminar 3 live demonstration.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56032"/>
            <a:ext cx="8229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8229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"/>
            <a:ext cx="96012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MODULE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621792"/>
            <a:ext cx="9601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Completed system modules and architectural integration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5257800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52578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81912"/>
            <a:ext cx="4800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Segoe UI"/>
              </a:rPr>
              <a:t>Module 1: PDF Ingestion &amp; Cleaning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47672"/>
            <a:ext cx="4800600" cy="868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Segoe UI"/>
              </a:rPr>
              <a:t>PyMuPDF extracts pages; regex removes running headers &amp; footers; splits into 400-word chunks with 60-word overlap.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5257800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52578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81912"/>
            <a:ext cx="4800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Segoe UI"/>
              </a:rPr>
              <a:t>Module 2: FAISS Semantic Retrieval (RAG)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47672"/>
            <a:ext cx="4800600" cy="868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Segoe UI"/>
              </a:rPr>
              <a:t>MiniLM converts chunks to 384-dim dense vectors. FAISS IndexFlatIP executes fast inner-product similarity search.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108960"/>
            <a:ext cx="5257800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108960"/>
            <a:ext cx="52578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73552"/>
            <a:ext cx="4800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Segoe UI"/>
              </a:rPr>
              <a:t>Module 3: Summarization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639312"/>
            <a:ext cx="4800600" cy="868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Segoe UI"/>
              </a:rPr>
              <a:t>MAP-REDUCE-EXPAND enforces proportional length (10 pages ≈ 500 words). Dual support: Local FLAN-T5 &amp; Gemini API.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08960"/>
            <a:ext cx="5257800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108960"/>
            <a:ext cx="52578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273552"/>
            <a:ext cx="4800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Segoe UI"/>
              </a:rPr>
              <a:t>Module 4: Verification &amp; Citations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639312"/>
            <a:ext cx="4800600" cy="868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Segoe UI"/>
              </a:rPr>
              <a:t>Lexical matcher connects each summary point to exact PDF page. Out-of-document queries safely trigger grounded refusal.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937760"/>
            <a:ext cx="10725912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937760"/>
            <a:ext cx="10725912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983480"/>
            <a:ext cx="10360152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Integration of Completed Modules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94960"/>
            <a:ext cx="10360152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50" b="1">
                <a:solidFill>
                  <a:srgbClr val="2563EB"/>
                </a:solidFill>
                <a:latin typeface="Segoe UI"/>
              </a:rPr>
              <a:t>PDF Upload  ➔  Text Cleaning  ➔  FAISS Vector Search  ➔  Retrieved Chunks  ➔  FLAN-T5 / Gemini AI  ➔  Grounded Result + Page Citations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06440"/>
            <a:ext cx="10360152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Segoe UI"/>
              </a:rPr>
              <a:t>All modules are interconnected into a reactive pipeline managed via Streamlit session state.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56032"/>
            <a:ext cx="8229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8229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4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"/>
            <a:ext cx="96012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DEVELOPMENT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621792"/>
            <a:ext cx="9601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Software implementation details and system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3328416" cy="47548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3328416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36192"/>
            <a:ext cx="30540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Coding 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05740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Segoe UI"/>
              </a:rPr>
              <a:t>• 2,800+ lines of robust, modular Python code.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56032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Segoe UI"/>
              </a:rPr>
              <a:t>• Core script: app.py &amp; master app_pyy.py.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06324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Segoe UI"/>
              </a:rPr>
              <a:t>• Clean separation of NLP algorithms, retrieval functions, and UI state.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56616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Segoe UI"/>
              </a:rPr>
              <a:t>• Integrated Google Gemini API alongside local offline FLAN-T5 model.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06908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Segoe UI"/>
              </a:rPr>
              <a:t>• Automated unit &amp; accuracy testing scripts verified.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25696" y="1463040"/>
            <a:ext cx="3328416" cy="47548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25696" y="1463040"/>
            <a:ext cx="3328416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2856" y="1536192"/>
            <a:ext cx="30540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Software 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205740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Segoe UI"/>
              </a:rPr>
              <a:t>• Language: Python 3.11+ backend.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56032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Segoe UI"/>
              </a:rPr>
              <a:t>• PDF Engine: PyMuPDF (fitz) for sub-second text extraction.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306324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Segoe UI"/>
              </a:rPr>
              <a:t>• Embeddings: sentence-transformers (all-MiniLM-L6-v2).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56616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Segoe UI"/>
              </a:rPr>
              <a:t>• Vector DB: FAISS IndexFlatIP (in-memory cosine similarity).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06908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Segoe UI"/>
              </a:rPr>
              <a:t>• Generation: Google FLAN-T5-small + Google Gemini API (gemini-1.5-flash).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9872" y="1463040"/>
            <a:ext cx="3328416" cy="47548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19872" y="1463040"/>
            <a:ext cx="3328416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2" y="1536192"/>
            <a:ext cx="305409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Interface 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4" y="205740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Segoe UI"/>
              </a:rPr>
              <a:t>• Framework: Streamlit with custom CSS injection.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256032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Segoe UI"/>
              </a:rPr>
              <a:t>• Sidebar: Dark navy rail (#0F172A) with 5 main navigation views.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306324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Segoe UI"/>
              </a:rPr>
              <a:t>• Workspace: Elevated white cards on light canvas (#F1F5F9).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4" y="356616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Segoe UI"/>
              </a:rPr>
              <a:t>• 6 Workspace Tabs: Summary, Key Points, Keywords, Ask PDF, Sources, Export.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4069080"/>
            <a:ext cx="2999232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Segoe UI"/>
              </a:rPr>
              <a:t>• High Contrast: Dark text (#0F172A) with blue accent bars.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56032"/>
            <a:ext cx="8229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8229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5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"/>
            <a:ext cx="96012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TESTING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621792"/>
            <a:ext cx="9601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Quality assurance strategy, test suites, tools, and verification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525780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525780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90472"/>
            <a:ext cx="4892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Segoe UI"/>
              </a:rPr>
              <a:t>1. Testing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892040" cy="1645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Segoe UI"/>
              </a:rPr>
              <a:t>Adopted a 3-tier validation framework:
• Layer 1: Unit testing on pure helper algorithms (cleaning, chunking, keyword extraction).
• Layer 2: Accuracy &amp; grounding tests (Q&amp;A consistency, entity preservation, out-of-document refusal).
• Layer 3: End-to-end integration validation using actual college engineering course lecture PDFs.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525780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525780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490472"/>
            <a:ext cx="4892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Segoe UI"/>
              </a:rPr>
              <a:t>2. Test Cases Performed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920240"/>
            <a:ext cx="4892040" cy="1645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Segoe UI"/>
              </a:rPr>
              <a:t>• test_helpers.py: 23 test cases validating PDF chunking, keyword scoring, export routines, and upload limits.
• test_accuracy.py: 12 test cases verifying factual Q&amp;A, definitions, numbers, dates, /cite, and slash commands.
• test_multi_stage_summary.py: Scaling tests across 5, 10, 20, and 50-page document workloads.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840480"/>
            <a:ext cx="525780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840480"/>
            <a:ext cx="525780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13632"/>
            <a:ext cx="4892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Segoe UI"/>
              </a:rPr>
              <a:t>3. Tools Used for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43400"/>
            <a:ext cx="4892040" cy="1645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Segoe UI"/>
              </a:rPr>
              <a:t>• Python Automated Test Runners: Automated test harness with assertion checks.
• PyMuPDF Inspector: Verifies extracted raw text against actual page coordinate bounds.
• FAISS Metric Auditing: Evaluates cosine similarity thresholds and chunk ranking.
• Tokenizer &amp; Budget Audits: Tracks token length constraints across summary outputs.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840480"/>
            <a:ext cx="525780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840480"/>
            <a:ext cx="525780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13632"/>
            <a:ext cx="4892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Segoe UI"/>
              </a:rPr>
              <a:t>4. Verification Process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343400"/>
            <a:ext cx="4892040" cy="1645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Segoe UI"/>
              </a:rPr>
              <a:t>• Grounding Check: Every answer is cross-checked against retrieved source chunks.
• Entity &amp; Date Audit: Ensures numbers (e.g. 94.5%) and dates (2017) are never altered.
• Hallucination Refusal: Prompts lacking context trigger 'Not found in document'.
• Citation Validation: Verifies that page badges point to exact source sentences.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56032"/>
            <a:ext cx="8229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8229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"/>
            <a:ext cx="96012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TEST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621792"/>
            <a:ext cx="9601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Verified experimental results, validation table, and performance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5257800" cy="47548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525780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81328"/>
            <a:ext cx="48463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Test Execution Summary 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965960"/>
            <a:ext cx="4892040" cy="45720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039112"/>
            <a:ext cx="25603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Segoe UI"/>
              </a:rPr>
              <a:t>Core Helpers (test_helpers.py)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039112"/>
            <a:ext cx="11887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Segoe UI"/>
              </a:rPr>
              <a:t>23 / 23 Passed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039112"/>
            <a:ext cx="10058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047857"/>
                </a:solidFill>
                <a:latin typeface="Segoe UI"/>
              </a:rPr>
              <a:t>✅ 100% Pass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468880"/>
            <a:ext cx="4892040" cy="45720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542032"/>
            <a:ext cx="25603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Segoe UI"/>
              </a:rPr>
              <a:t>Accuracy Suite (test_accuracy.py)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542032"/>
            <a:ext cx="11887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Segoe UI"/>
              </a:rPr>
              <a:t>12 / 12 Passed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542032"/>
            <a:ext cx="10058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047857"/>
                </a:solidFill>
                <a:latin typeface="Segoe UI"/>
              </a:rPr>
              <a:t>✅ 100% 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2971800"/>
            <a:ext cx="4892040" cy="45720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044952"/>
            <a:ext cx="25603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Segoe UI"/>
              </a:rPr>
              <a:t>Summary Length Scaling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3044952"/>
            <a:ext cx="11887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Segoe UI"/>
              </a:rPr>
              <a:t>4 / 4 Doc Sizes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044952"/>
            <a:ext cx="10058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047857"/>
                </a:solidFill>
                <a:latin typeface="Segoe UI"/>
              </a:rPr>
              <a:t>✅ Verified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474720"/>
            <a:ext cx="4892040" cy="45720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3547872"/>
            <a:ext cx="25603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Segoe UI"/>
              </a:rPr>
              <a:t>Negative Refusal Handling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3547872"/>
            <a:ext cx="11887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Segoe UI"/>
              </a:rPr>
              <a:t>Out-of-doc queries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547872"/>
            <a:ext cx="10058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047857"/>
                </a:solidFill>
                <a:latin typeface="Segoe UI"/>
              </a:rPr>
              <a:t>✅ Verified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3977640"/>
            <a:ext cx="4892040" cy="45720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4050792"/>
            <a:ext cx="25603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Segoe UI"/>
              </a:rPr>
              <a:t>Exact Date &amp; Number QA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050792"/>
            <a:ext cx="11887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Segoe UI"/>
              </a:rPr>
              <a:t>100% Match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4050792"/>
            <a:ext cx="10058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047857"/>
                </a:solidFill>
                <a:latin typeface="Segoe UI"/>
              </a:rPr>
              <a:t>✅ Verified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4480560"/>
            <a:ext cx="4892040" cy="45720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553712"/>
            <a:ext cx="25603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Segoe UI"/>
              </a:rPr>
              <a:t>Multi-Page Retrieval &amp; /cite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4553712"/>
            <a:ext cx="11887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Segoe UI"/>
              </a:rPr>
              <a:t>3 Pages retrieved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4553712"/>
            <a:ext cx="10058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047857"/>
                </a:solidFill>
                <a:latin typeface="Segoe UI"/>
              </a:rPr>
              <a:t>✅ Verified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4983480"/>
            <a:ext cx="4892040" cy="45720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056632"/>
            <a:ext cx="25603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Segoe UI"/>
              </a:rPr>
              <a:t>Export Routines (PDF, TXT, MD)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5056632"/>
            <a:ext cx="11887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Segoe UI"/>
              </a:rPr>
              <a:t>Valid byte 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5056632"/>
            <a:ext cx="10058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047857"/>
                </a:solidFill>
                <a:latin typeface="Segoe UI"/>
              </a:rPr>
              <a:t>✅ Verified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5486400"/>
            <a:ext cx="4892040" cy="45720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5559552"/>
            <a:ext cx="25603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Segoe UI"/>
              </a:rPr>
              <a:t>Dual Model Switching (Local/Gemini)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80" y="5559552"/>
            <a:ext cx="11887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Segoe UI"/>
              </a:rPr>
              <a:t>Seamless fallback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5559552"/>
            <a:ext cx="10058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047857"/>
                </a:solidFill>
                <a:latin typeface="Segoe UI"/>
              </a:rPr>
              <a:t>✅ Verified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1417320"/>
            <a:ext cx="5285232" cy="47548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72200" y="1417320"/>
            <a:ext cx="5285232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1481328"/>
            <a:ext cx="48463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Experimental Results on Real Academic PDFs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1965960"/>
            <a:ext cx="4919472" cy="128016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2039112"/>
            <a:ext cx="46634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Segoe UI"/>
              </a:rPr>
              <a:t>Computer Hardware Notes (CHASM Unit 1)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2313432"/>
            <a:ext cx="4663440" cy="868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Input: 23 pages, 11,200 words
• Summary Output: 1,363 words across 3 logical sections
• Keywords: 8 high-relevance domain entities
• Citations: 41 source page citations verified with zero hallucination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3337560"/>
            <a:ext cx="4919472" cy="128016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3410712"/>
            <a:ext cx="46634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Segoe UI"/>
              </a:rPr>
              <a:t>Symmetric Cryptography (Unit 2)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3685032"/>
            <a:ext cx="4663440" cy="868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Input: 21 pages, 9,850 words
• Summary Output: 1,260 words grounded in DES &amp; AES concepts
• Citations: 35 source excerpts accurately linked to original pages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4709160"/>
            <a:ext cx="4919472" cy="128016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92240" y="4782312"/>
            <a:ext cx="46634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Segoe UI"/>
              </a:rPr>
              <a:t>Performance Analysis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5056632"/>
            <a:ext cx="4663440" cy="868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Vector Search Latency: Sub-second retrieval with FAISS IndexFlatIP.
• Summary Scaling: 10 pages ≈ 500 words enforced dynamically.
• Fact Grounding: 100% consistency across dates, formulas, and definitions.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56032"/>
            <a:ext cx="8229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8229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"/>
            <a:ext cx="96012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MODIFICATIONS &amp; IMPROVEMENTS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621792"/>
            <a:ext cx="9601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Problem resolution, software improvements, and optimizations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525780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525780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90472"/>
            <a:ext cx="4892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Segoe UI"/>
              </a:rPr>
              <a:t>1. Issues Identified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92808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Issue 1: Generic LLM summarizers produced hallucinations and ungrounded statements.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21992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Issue 2: Fixed summary lengths failed—cut off large PDFs or generated too much text for short ones.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51176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Issue 3: Standard PDF readers lacked semantic question-answering and page proof.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80360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Issue 4: Text in generated output cards had low contrast against white surfaces.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09544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Issue 5: Need for both lightweight local processing and high-end cloud AI generation.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417320"/>
            <a:ext cx="525780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417320"/>
            <a:ext cx="525780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490472"/>
            <a:ext cx="4892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Segoe UI"/>
              </a:rPr>
              <a:t>2. Modifications Carried 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92808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Modification 1: Introduced Lexical Reranking &amp; Verification layer for strict source grounding.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21992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Modification 2: Built dynamic Proportional Scaling Rule (10 input pages = ~500 summary words).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551176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Modification 3: Integrated exact point-to-source citation matcher linking claims to PDF pages.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880360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Modification 4: Restyled generated output cards with royal blue left accent bars &amp; #0F172A text.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209544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Modification 5: Integrated Google Gemini API (gemini-1.5-flash) with local FLAN-T5 fallback.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840480"/>
            <a:ext cx="525780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840480"/>
            <a:ext cx="525780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913632"/>
            <a:ext cx="4892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Segoe UI"/>
              </a:rPr>
              <a:t>3. Software Improvements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315968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Adopted MAP-REDUCE-EXPAND chunked summarization to prevent token truncation on large files.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645152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Added multi-signal keyword ranking combining TF-IDF and capital noun entity weighting.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74336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Redesigned UI into a modern 6-tab workspace (Summary, Key Points, Keywords, Ask PDF, Sources, Export).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303520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Added slash commands (/explain, /find, /cite, /compare) for predictable user interactions.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3840480"/>
            <a:ext cx="525780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3840480"/>
            <a:ext cx="525780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3913632"/>
            <a:ext cx="4892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Segoe UI"/>
              </a:rPr>
              <a:t>4. Performance Enhancement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315968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FAISS In-Memory Caching: Cached vector embeddings per document to eliminate re-indexing delays.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645152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Optimized CPU Inference: Configured FLAN-T5 for fast CPU execution without GPU dependency.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974336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Proportional Output Tuning: Reduced reading time by over 80% while retaining critical concepts.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303520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Segoe UI"/>
              </a:rPr>
              <a:t>• Robust Error Handling: Handled textless scanned PDFs and oversize files gracefully.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56032"/>
            <a:ext cx="8229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8229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"/>
            <a:ext cx="96012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CURRENT WORKING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621792"/>
            <a:ext cx="9601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Live application status, features completed, and prototype workflow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5257800" cy="1874519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525780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72184"/>
            <a:ext cx="4892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📄 Proportional PDF Summarizer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56232"/>
            <a:ext cx="4892040" cy="1325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Automatically scales summary length to input size.
• Choose Short (70%), Medium (100%), or Detailed (130%).
• Formats: Bullet Points, Paragraph, Key Findings, FAQ, Structured.
• Separate or Combined multi-PDF document summarization.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5257800" cy="1874519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525780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472184"/>
            <a:ext cx="4892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💬 Grounded Ask PDF &amp; Slash Commands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856232"/>
            <a:ext cx="4892040" cy="1325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Natural language question answering strictly grounded in PDF.
• Slash commands: /explain, /find, /define, /cite, /compare.
• Hallucination Guard: Displays 'Not found in document' if query is missing.
• Numerical &amp; date factual consistency checking verified.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474720"/>
            <a:ext cx="5257800" cy="1874519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474720"/>
            <a:ext cx="525780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29584"/>
            <a:ext cx="4892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🏷️ Multi-Signal Domain Keywords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13632"/>
            <a:ext cx="4892040" cy="1325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Extracts genuinely important technical domain terms.
• Multi-signal scoring: TF-IDF + Capitalization + Position.
• MMR (Maximal Marginal Relevance) eliminates redundant duplicate terms.
• Renders visual chip badges with frequency relevance.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474720"/>
            <a:ext cx="5257800" cy="1874519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474720"/>
            <a:ext cx="525780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529584"/>
            <a:ext cx="4892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📖 Page-Aware Citations &amp; 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913632"/>
            <a:ext cx="4892040" cy="1325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Traces every key point back to its authentic PDF page number.
• Expandable evidence drawers with highlighted original text excerpts.
• 1-Click Multi-Format Export: PDF, Markdown, and TXT.
• Complete interaction session history with clear action.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669280"/>
            <a:ext cx="10725912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806440"/>
            <a:ext cx="10360152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Prototype Status: Fully operational web application running locally on Streamlit (http://localhost:8501) with Dual AI Engine.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56032"/>
            <a:ext cx="8229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8229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9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"/>
            <a:ext cx="96012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REMAINING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621792"/>
            <a:ext cx="9601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Pending modules, final testing, documentation, and evaluation roadmap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525780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525780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90472"/>
            <a:ext cx="4892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Segoe UI"/>
              </a:rPr>
              <a:t>Pending 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8920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OCR Integration (Tesseract OCR): To extract text from scanned image PDFs and physical books.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22576"/>
            <a:ext cx="48920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Advanced Table Parser: Improve retention of complex multi-column table formatting.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724912"/>
            <a:ext cx="48920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Cross-Document Diff Tool: Visual side-by-side comparison of two PDF revisions.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27248"/>
            <a:ext cx="48920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Audio Summary Playback: Text-to-speech module for listening to generated summaries.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525780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417320"/>
            <a:ext cx="525780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490472"/>
            <a:ext cx="4892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Segoe UI"/>
              </a:rPr>
              <a:t>Final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920240"/>
            <a:ext cx="48920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Stress Testing: Evaluate performance on large 300+ page textbook PDFs.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322576"/>
            <a:ext cx="48920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Cross-Browser Validation: Verify UI responsiveness across Chrome, Edge, Safari, and Firefox.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724912"/>
            <a:ext cx="48920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User Evaluation Study: Collect usability feedback from Computer Engineering students.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127248"/>
            <a:ext cx="48920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Benchmark Latency: Measure exact response times between Local FLAN-T5 and Gemini API.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840480"/>
            <a:ext cx="525780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840480"/>
            <a:ext cx="525780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13632"/>
            <a:ext cx="4892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Segoe UI"/>
              </a:rPr>
              <a:t>Documentation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343400"/>
            <a:ext cx="48920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Final Project Report: Complete comprehensive academic report adhering to university guidelines.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745736"/>
            <a:ext cx="48920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System Architecture Diagrams: Refine UML diagrams, Data Flow Diagrams (DFD), and component flowcharts.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148072"/>
            <a:ext cx="48920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API &amp; Module Reference: Document code modules, function signatures, and setup instructions.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550408"/>
            <a:ext cx="48920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User Guide: Step-by-step installation and operation manual for end users.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3840480"/>
            <a:ext cx="525780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3840480"/>
            <a:ext cx="525780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913632"/>
            <a:ext cx="48920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Segoe UI"/>
              </a:rPr>
              <a:t>Preparation for Final 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343400"/>
            <a:ext cx="48920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Cloud Deployment: Package application using Docker and deploy to Streamlit Community Cloud.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745736"/>
            <a:ext cx="48920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Code Refactoring: Optimize package dependencies and clean up configuration scripts.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5148072"/>
            <a:ext cx="48920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Final Presentation &amp; Demonstration: Prepare comprehensive slides and recorded video demonstration.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550408"/>
            <a:ext cx="48920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Segoe UI"/>
              </a:rPr>
              <a:t>• Project Viva Readiness: Prepare defense answers covering NLP algorithms, FAISS, and RAG concepts.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1800"/>
            <a:ext cx="1218895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594360"/>
            <a:ext cx="10360152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594360"/>
            <a:ext cx="10360152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868680"/>
            <a:ext cx="10360152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Segoe UI"/>
              </a:rPr>
              <a:t>SUMMARY AI — SEMINAR 3 CONCLUSION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1417320"/>
            <a:ext cx="4754880" cy="292608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1417320"/>
            <a:ext cx="475488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1463040"/>
            <a:ext cx="448056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Seminar 3 Milestones Accomplished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47088"/>
            <a:ext cx="448056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"/>
              </a:rPr>
              <a:t>✅ Full RAG pipeline: PDF Ingestion ➔ FAISS Vector Index ➔ AI Summary.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194560"/>
            <a:ext cx="448056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"/>
              </a:rPr>
              <a:t>✅ Dual AI Engine: Offline FLAN-T5 model + Google Gemini API cloud integration.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542032"/>
            <a:ext cx="448056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"/>
              </a:rPr>
              <a:t>✅ Strictly grounded Q&amp;A with negative refusal guard and page citations.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889504"/>
            <a:ext cx="448056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"/>
              </a:rPr>
              <a:t>✅ Modern Notion-style web workspace with dark sidebar &amp; 6 content tabs.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236976"/>
            <a:ext cx="448056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"/>
              </a:rPr>
              <a:t>✅ 35 / 35 automated unit and accuracy test cases completely passed.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84448"/>
            <a:ext cx="448056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"/>
              </a:rPr>
              <a:t>✅ Successfully verified with real 20+ page engineering lecture PDF notes.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417320"/>
            <a:ext cx="4754880" cy="292608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417320"/>
            <a:ext cx="475488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463040"/>
            <a:ext cx="448056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Live Demonstration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10512"/>
            <a:ext cx="448056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50" b="1">
                <a:solidFill>
                  <a:srgbClr val="0F172A"/>
                </a:solidFill>
                <a:latin typeface="Segoe UI"/>
              </a:rPr>
              <a:t>1. Upload PDF Document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029968"/>
            <a:ext cx="448056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Segoe UI"/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249424"/>
            <a:ext cx="448056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50" b="1">
                <a:solidFill>
                  <a:srgbClr val="0F172A"/>
                </a:solidFill>
                <a:latin typeface="Segoe UI"/>
              </a:rPr>
              <a:t>2. Generate Proportional 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468880"/>
            <a:ext cx="448056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Segoe UI"/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688336"/>
            <a:ext cx="448056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50" b="1">
                <a:solidFill>
                  <a:srgbClr val="0F172A"/>
                </a:solidFill>
                <a:latin typeface="Segoe UI"/>
              </a:rPr>
              <a:t>3. Inspect Keywords &amp; Key 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907792"/>
            <a:ext cx="448056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Segoe UI"/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127248"/>
            <a:ext cx="448056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50" b="1">
                <a:solidFill>
                  <a:srgbClr val="0F172A"/>
                </a:solidFill>
                <a:latin typeface="Segoe UI"/>
              </a:rPr>
              <a:t>4. Ask Grounded Questions (/explain, /cite)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346704"/>
            <a:ext cx="448056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Segoe UI"/>
              </a:rP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566160"/>
            <a:ext cx="448056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50" b="1">
                <a:solidFill>
                  <a:srgbClr val="0F172A"/>
                </a:solidFill>
                <a:latin typeface="Segoe UI"/>
              </a:rPr>
              <a:t>5. Verify Authentic Page Excerpts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785616"/>
            <a:ext cx="448056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Segoe UI"/>
              </a:rP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005072"/>
            <a:ext cx="448056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50" b="1">
                <a:solidFill>
                  <a:srgbClr val="0F172A"/>
                </a:solidFill>
                <a:latin typeface="Segoe UI"/>
              </a:rPr>
              <a:t>6. One-Click Multi-Format Export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88720" y="4434840"/>
            <a:ext cx="9784080" cy="594360"/>
          </a:xfrm>
          <a:prstGeom prst="rect">
            <a:avLst/>
          </a:prstGeom>
          <a:solidFill>
            <a:srgbClr val="EEF2F6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0" y="4553712"/>
            <a:ext cx="94183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50" b="1">
                <a:solidFill>
                  <a:srgbClr val="0F172A"/>
                </a:solidFill>
                <a:latin typeface="Segoe UI"/>
              </a:rPr>
              <a:t>“Summary AI transforms static PDF reading into an active, citation-backed, intelligent workspace.”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120640"/>
            <a:ext cx="10360152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Segoe UI"/>
              </a:rPr>
              <a:t>Thank You!   Any Questions?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532120"/>
            <a:ext cx="10360152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Segoe UI"/>
              </a:rPr>
              <a:t>Team: Kandoriya Yogesh (246400307085)  |  Khambhaliya Harshid (246400307387)      Guide: Prof. S. V. Modi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779008"/>
            <a:ext cx="10360152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Segoe UI"/>
              </a:rPr>
              <a:t>Department of Computer Engineering  |  R. C. Technical Institute, Ahmedabad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